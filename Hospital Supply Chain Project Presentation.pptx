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Sergio Trendy" charset="1" panose="00000000000000000000"/>
      <p:regular r:id="rId15"/>
    </p:embeddedFont>
    <p:embeddedFont>
      <p:font typeface="Poppins Medium" charset="1" panose="00000600000000000000"/>
      <p:regular r:id="rId16"/>
    </p:embeddedFont>
    <p:embeddedFont>
      <p:font typeface="Poppins" charset="1" panose="00000500000000000000"/>
      <p:regular r:id="rId17"/>
    </p:embeddedFont>
    <p:embeddedFont>
      <p:font typeface="Poppins Bold" charset="1" panose="00000800000000000000"/>
      <p:regular r:id="rId18"/>
    </p:embeddedFont>
    <p:embeddedFont>
      <p:font typeface="Canva Sans Bold" charset="1" panose="020B08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27" Target="../media/image26.png" Type="http://schemas.openxmlformats.org/officeDocument/2006/relationships/image"/><Relationship Id="rId28" Target="../media/image27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svg" Type="http://schemas.openxmlformats.org/officeDocument/2006/relationships/image"/><Relationship Id="rId2" Target="../media/image1.jpe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36.png" Type="http://schemas.openxmlformats.org/officeDocument/2006/relationships/image"/><Relationship Id="rId8" Target="../media/image37.sv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27" Target="../media/image26.png" Type="http://schemas.openxmlformats.org/officeDocument/2006/relationships/image"/><Relationship Id="rId28" Target="../media/image27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63162" y="-789039"/>
            <a:ext cx="2875332" cy="3635478"/>
          </a:xfrm>
          <a:custGeom>
            <a:avLst/>
            <a:gdLst/>
            <a:ahLst/>
            <a:cxnLst/>
            <a:rect r="r" b="b" t="t" l="l"/>
            <a:pathLst>
              <a:path h="3635478" w="2875332">
                <a:moveTo>
                  <a:pt x="0" y="0"/>
                </a:moveTo>
                <a:lnTo>
                  <a:pt x="2875333" y="0"/>
                </a:lnTo>
                <a:lnTo>
                  <a:pt x="2875333" y="3635478"/>
                </a:lnTo>
                <a:lnTo>
                  <a:pt x="0" y="36354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1044801" y="9258300"/>
            <a:ext cx="5315394" cy="1913542"/>
          </a:xfrm>
          <a:custGeom>
            <a:avLst/>
            <a:gdLst/>
            <a:ahLst/>
            <a:cxnLst/>
            <a:rect r="r" b="b" t="t" l="l"/>
            <a:pathLst>
              <a:path h="1913542" w="5315394">
                <a:moveTo>
                  <a:pt x="0" y="0"/>
                </a:moveTo>
                <a:lnTo>
                  <a:pt x="5315394" y="0"/>
                </a:lnTo>
                <a:lnTo>
                  <a:pt x="5315394" y="1913542"/>
                </a:lnTo>
                <a:lnTo>
                  <a:pt x="0" y="19135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2830164">
            <a:off x="5322070" y="8801780"/>
            <a:ext cx="3550978" cy="3705954"/>
          </a:xfrm>
          <a:custGeom>
            <a:avLst/>
            <a:gdLst/>
            <a:ahLst/>
            <a:cxnLst/>
            <a:rect r="r" b="b" t="t" l="l"/>
            <a:pathLst>
              <a:path h="3705954" w="3550978">
                <a:moveTo>
                  <a:pt x="0" y="0"/>
                </a:moveTo>
                <a:lnTo>
                  <a:pt x="3550978" y="0"/>
                </a:lnTo>
                <a:lnTo>
                  <a:pt x="3550978" y="3705955"/>
                </a:lnTo>
                <a:lnTo>
                  <a:pt x="0" y="3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50933">
            <a:off x="-2582731" y="3638336"/>
            <a:ext cx="4236628" cy="4828066"/>
          </a:xfrm>
          <a:custGeom>
            <a:avLst/>
            <a:gdLst/>
            <a:ahLst/>
            <a:cxnLst/>
            <a:rect r="r" b="b" t="t" l="l"/>
            <a:pathLst>
              <a:path h="4828066" w="4236628">
                <a:moveTo>
                  <a:pt x="0" y="0"/>
                </a:moveTo>
                <a:lnTo>
                  <a:pt x="4236628" y="0"/>
                </a:lnTo>
                <a:lnTo>
                  <a:pt x="4236628" y="4828066"/>
                </a:lnTo>
                <a:lnTo>
                  <a:pt x="0" y="48280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5584336" y="-1920382"/>
            <a:ext cx="4623736" cy="3907057"/>
          </a:xfrm>
          <a:custGeom>
            <a:avLst/>
            <a:gdLst/>
            <a:ahLst/>
            <a:cxnLst/>
            <a:rect r="r" b="b" t="t" l="l"/>
            <a:pathLst>
              <a:path h="3907057" w="4623736">
                <a:moveTo>
                  <a:pt x="0" y="0"/>
                </a:moveTo>
                <a:lnTo>
                  <a:pt x="4623735" y="0"/>
                </a:lnTo>
                <a:lnTo>
                  <a:pt x="4623735" y="3907057"/>
                </a:lnTo>
                <a:lnTo>
                  <a:pt x="0" y="39070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366315">
            <a:off x="16272866" y="2044607"/>
            <a:ext cx="3659690" cy="4299195"/>
          </a:xfrm>
          <a:custGeom>
            <a:avLst/>
            <a:gdLst/>
            <a:ahLst/>
            <a:cxnLst/>
            <a:rect r="r" b="b" t="t" l="l"/>
            <a:pathLst>
              <a:path h="4299195" w="3659690">
                <a:moveTo>
                  <a:pt x="0" y="0"/>
                </a:moveTo>
                <a:lnTo>
                  <a:pt x="3659690" y="0"/>
                </a:lnTo>
                <a:lnTo>
                  <a:pt x="3659690" y="4299195"/>
                </a:lnTo>
                <a:lnTo>
                  <a:pt x="0" y="429919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624977" y="-3611469"/>
            <a:ext cx="4567505" cy="4720935"/>
          </a:xfrm>
          <a:custGeom>
            <a:avLst/>
            <a:gdLst/>
            <a:ahLst/>
            <a:cxnLst/>
            <a:rect r="r" b="b" t="t" l="l"/>
            <a:pathLst>
              <a:path h="4720935" w="4567505">
                <a:moveTo>
                  <a:pt x="0" y="0"/>
                </a:moveTo>
                <a:lnTo>
                  <a:pt x="4567505" y="0"/>
                </a:lnTo>
                <a:lnTo>
                  <a:pt x="4567505" y="4720935"/>
                </a:lnTo>
                <a:lnTo>
                  <a:pt x="0" y="472093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9924524" y="8931997"/>
            <a:ext cx="5331561" cy="3445521"/>
          </a:xfrm>
          <a:custGeom>
            <a:avLst/>
            <a:gdLst/>
            <a:ahLst/>
            <a:cxnLst/>
            <a:rect r="r" b="b" t="t" l="l"/>
            <a:pathLst>
              <a:path h="3445521" w="5331561">
                <a:moveTo>
                  <a:pt x="0" y="0"/>
                </a:moveTo>
                <a:lnTo>
                  <a:pt x="5331562" y="0"/>
                </a:lnTo>
                <a:lnTo>
                  <a:pt x="5331562" y="3445521"/>
                </a:lnTo>
                <a:lnTo>
                  <a:pt x="0" y="344552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5513261" y="7125624"/>
            <a:ext cx="3869837" cy="4265352"/>
          </a:xfrm>
          <a:custGeom>
            <a:avLst/>
            <a:gdLst/>
            <a:ahLst/>
            <a:cxnLst/>
            <a:rect r="r" b="b" t="t" l="l"/>
            <a:pathLst>
              <a:path h="4265352" w="3869837">
                <a:moveTo>
                  <a:pt x="0" y="0"/>
                </a:moveTo>
                <a:lnTo>
                  <a:pt x="3869837" y="0"/>
                </a:lnTo>
                <a:lnTo>
                  <a:pt x="3869837" y="4265352"/>
                </a:lnTo>
                <a:lnTo>
                  <a:pt x="0" y="426535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-10800000">
            <a:off x="9144000" y="-1365351"/>
            <a:ext cx="6660247" cy="2730701"/>
          </a:xfrm>
          <a:custGeom>
            <a:avLst/>
            <a:gdLst/>
            <a:ahLst/>
            <a:cxnLst/>
            <a:rect r="r" b="b" t="t" l="l"/>
            <a:pathLst>
              <a:path h="2730701" w="6660247">
                <a:moveTo>
                  <a:pt x="0" y="0"/>
                </a:moveTo>
                <a:lnTo>
                  <a:pt x="6660247" y="0"/>
                </a:lnTo>
                <a:lnTo>
                  <a:pt x="6660247" y="2730702"/>
                </a:lnTo>
                <a:lnTo>
                  <a:pt x="0" y="273070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-2611628">
            <a:off x="1608356" y="-1969747"/>
            <a:ext cx="4007991" cy="3041063"/>
          </a:xfrm>
          <a:custGeom>
            <a:avLst/>
            <a:gdLst/>
            <a:ahLst/>
            <a:cxnLst/>
            <a:rect r="r" b="b" t="t" l="l"/>
            <a:pathLst>
              <a:path h="3041063" w="4007991">
                <a:moveTo>
                  <a:pt x="0" y="0"/>
                </a:moveTo>
                <a:lnTo>
                  <a:pt x="4007991" y="0"/>
                </a:lnTo>
                <a:lnTo>
                  <a:pt x="4007991" y="3041063"/>
                </a:lnTo>
                <a:lnTo>
                  <a:pt x="0" y="304106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3810928" y="3087130"/>
            <a:ext cx="10198797" cy="397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49"/>
              </a:lnSpc>
            </a:pPr>
            <a:r>
              <a:rPr lang="en-US" sz="12559" spc="-753">
                <a:solidFill>
                  <a:srgbClr val="0B4E7C"/>
                </a:solidFill>
                <a:latin typeface="Sergio Trendy"/>
                <a:ea typeface="Sergio Trendy"/>
                <a:cs typeface="Sergio Trendy"/>
                <a:sym typeface="Sergio Trendy"/>
              </a:rPr>
              <a:t>HOSPITAL</a:t>
            </a:r>
          </a:p>
          <a:p>
            <a:pPr algn="ctr" marL="0" indent="0" lvl="0">
              <a:lnSpc>
                <a:spcPts val="10549"/>
              </a:lnSpc>
            </a:pPr>
            <a:r>
              <a:rPr lang="en-US" sz="12559" spc="-753">
                <a:solidFill>
                  <a:srgbClr val="0B4E7C"/>
                </a:solidFill>
                <a:latin typeface="Sergio Trendy"/>
                <a:ea typeface="Sergio Trendy"/>
                <a:cs typeface="Sergio Trendy"/>
                <a:sym typeface="Sergio Trendy"/>
              </a:rPr>
              <a:t>SUPPLY CHAIN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4142913">
            <a:off x="12598122" y="2352299"/>
            <a:ext cx="2770524" cy="1664799"/>
          </a:xfrm>
          <a:custGeom>
            <a:avLst/>
            <a:gdLst/>
            <a:ahLst/>
            <a:cxnLst/>
            <a:rect r="r" b="b" t="t" l="l"/>
            <a:pathLst>
              <a:path h="1664799" w="2770524">
                <a:moveTo>
                  <a:pt x="0" y="0"/>
                </a:moveTo>
                <a:lnTo>
                  <a:pt x="2770524" y="0"/>
                </a:lnTo>
                <a:lnTo>
                  <a:pt x="2770524" y="1664800"/>
                </a:lnTo>
                <a:lnTo>
                  <a:pt x="0" y="166480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810928" y="7240056"/>
            <a:ext cx="10355609" cy="41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55"/>
              </a:lnSpc>
              <a:spcBef>
                <a:spcPct val="0"/>
              </a:spcBef>
            </a:pPr>
            <a:r>
              <a:rPr lang="en-US" b="true" sz="2841" spc="17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BY SHARVANI MAHADIK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-6823717">
            <a:off x="3159395" y="5914217"/>
            <a:ext cx="2770524" cy="1664799"/>
          </a:xfrm>
          <a:custGeom>
            <a:avLst/>
            <a:gdLst/>
            <a:ahLst/>
            <a:cxnLst/>
            <a:rect r="r" b="b" t="t" l="l"/>
            <a:pathLst>
              <a:path h="1664799" w="2770524">
                <a:moveTo>
                  <a:pt x="0" y="0"/>
                </a:moveTo>
                <a:lnTo>
                  <a:pt x="2770524" y="0"/>
                </a:lnTo>
                <a:lnTo>
                  <a:pt x="2770524" y="1664799"/>
                </a:lnTo>
                <a:lnTo>
                  <a:pt x="0" y="1664799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3077199" y="2133713"/>
            <a:ext cx="1467459" cy="1581362"/>
          </a:xfrm>
          <a:custGeom>
            <a:avLst/>
            <a:gdLst/>
            <a:ahLst/>
            <a:cxnLst/>
            <a:rect r="r" b="b" t="t" l="l"/>
            <a:pathLst>
              <a:path h="1581362" w="1467459">
                <a:moveTo>
                  <a:pt x="1467458" y="0"/>
                </a:moveTo>
                <a:lnTo>
                  <a:pt x="0" y="0"/>
                </a:lnTo>
                <a:lnTo>
                  <a:pt x="0" y="1581362"/>
                </a:lnTo>
                <a:lnTo>
                  <a:pt x="1467458" y="1581362"/>
                </a:lnTo>
                <a:lnTo>
                  <a:pt x="1467458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2295082" y="6052369"/>
            <a:ext cx="1140143" cy="1228640"/>
          </a:xfrm>
          <a:custGeom>
            <a:avLst/>
            <a:gdLst/>
            <a:ahLst/>
            <a:cxnLst/>
            <a:rect r="r" b="b" t="t" l="l"/>
            <a:pathLst>
              <a:path h="1228640" w="1140143">
                <a:moveTo>
                  <a:pt x="0" y="0"/>
                </a:moveTo>
                <a:lnTo>
                  <a:pt x="1140142" y="0"/>
                </a:lnTo>
                <a:lnTo>
                  <a:pt x="1140142" y="1228641"/>
                </a:lnTo>
                <a:lnTo>
                  <a:pt x="0" y="1228641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69338"/>
            <a:ext cx="8878871" cy="1400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10000" spc="-600">
                <a:solidFill>
                  <a:srgbClr val="0B4E7C"/>
                </a:solidFill>
                <a:latin typeface="Poppins"/>
                <a:ea typeface="Poppins"/>
                <a:cs typeface="Poppins"/>
                <a:sym typeface="Poppins"/>
              </a:rPr>
              <a:t>INTRODUCTION: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78021"/>
            <a:ext cx="9707234" cy="7356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5"/>
              </a:lnSpc>
            </a:pPr>
            <a:r>
              <a:rPr lang="en-US" b="true" sz="2418" spc="145">
                <a:solidFill>
                  <a:srgbClr val="0B4E7C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STATEMENT:-</a:t>
            </a:r>
          </a:p>
          <a:p>
            <a:pPr algn="just">
              <a:lnSpc>
                <a:spcPts val="3265"/>
              </a:lnSpc>
            </a:pPr>
            <a:r>
              <a:rPr lang="en-US" sz="2418" spc="145">
                <a:solidFill>
                  <a:srgbClr val="0B4E7C"/>
                </a:solidFill>
                <a:latin typeface="Poppins"/>
                <a:ea typeface="Poppins"/>
                <a:cs typeface="Poppins"/>
                <a:sym typeface="Poppins"/>
              </a:rPr>
              <a:t>Hospitals face challenges like delivery delays, unreliable suppliers, and stock shortages, impacting patient care. This project analyzes supply chain data to identify trends, improve supplier selection, and optimize purchasing decisions</a:t>
            </a:r>
          </a:p>
          <a:p>
            <a:pPr algn="just">
              <a:lnSpc>
                <a:spcPts val="3265"/>
              </a:lnSpc>
            </a:pPr>
          </a:p>
          <a:p>
            <a:pPr algn="just">
              <a:lnSpc>
                <a:spcPts val="3265"/>
              </a:lnSpc>
            </a:pPr>
            <a:r>
              <a:rPr lang="en-US" b="true" sz="2418" spc="145">
                <a:solidFill>
                  <a:srgbClr val="0B4E7C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OBJECTIVES:-</a:t>
            </a:r>
          </a:p>
          <a:p>
            <a:pPr algn="just" marL="522229" indent="-261115" lvl="1">
              <a:lnSpc>
                <a:spcPts val="3265"/>
              </a:lnSpc>
              <a:buFont typeface="Arial"/>
              <a:buChar char="•"/>
            </a:pPr>
            <a:r>
              <a:rPr lang="en-US" sz="2418" spc="145">
                <a:solidFill>
                  <a:srgbClr val="0B4E7C"/>
                </a:solidFill>
                <a:latin typeface="Poppins"/>
                <a:ea typeface="Poppins"/>
                <a:cs typeface="Poppins"/>
                <a:sym typeface="Poppins"/>
              </a:rPr>
              <a:t>Understand hospital supply chain data to reduce inefficiencies, cut costs, and improve delivery timelines.</a:t>
            </a:r>
          </a:p>
          <a:p>
            <a:pPr algn="just" marL="522229" indent="-261115" lvl="1">
              <a:lnSpc>
                <a:spcPts val="3265"/>
              </a:lnSpc>
              <a:buFont typeface="Arial"/>
              <a:buChar char="•"/>
            </a:pPr>
            <a:r>
              <a:rPr lang="en-US" sz="2418" spc="145">
                <a:solidFill>
                  <a:srgbClr val="0B4E7C"/>
                </a:solidFill>
                <a:latin typeface="Poppins"/>
                <a:ea typeface="Poppins"/>
                <a:cs typeface="Poppins"/>
                <a:sym typeface="Poppins"/>
              </a:rPr>
              <a:t>Identify top suppliers, track order fulfillment, and analyze inventory trends.</a:t>
            </a:r>
          </a:p>
          <a:p>
            <a:pPr algn="just">
              <a:lnSpc>
                <a:spcPts val="3265"/>
              </a:lnSpc>
            </a:pPr>
          </a:p>
          <a:p>
            <a:pPr algn="just">
              <a:lnSpc>
                <a:spcPts val="3265"/>
              </a:lnSpc>
            </a:pPr>
            <a:r>
              <a:rPr lang="en-US" b="true" sz="2418" spc="145">
                <a:solidFill>
                  <a:srgbClr val="0B4E7C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OVERVIEW</a:t>
            </a:r>
            <a:r>
              <a:rPr lang="en-US" b="true" sz="2418" spc="145">
                <a:solidFill>
                  <a:srgbClr val="0B4E7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:-</a:t>
            </a:r>
          </a:p>
          <a:p>
            <a:pPr algn="just" marL="522229" indent="-261115" lvl="1">
              <a:lnSpc>
                <a:spcPts val="3265"/>
              </a:lnSpc>
              <a:buFont typeface="Arial"/>
              <a:buChar char="•"/>
            </a:pPr>
            <a:r>
              <a:rPr lang="en-US" sz="2418" spc="145">
                <a:solidFill>
                  <a:srgbClr val="0B4E7C"/>
                </a:solidFill>
                <a:latin typeface="Poppins"/>
                <a:ea typeface="Poppins"/>
                <a:cs typeface="Poppins"/>
                <a:sym typeface="Poppins"/>
              </a:rPr>
              <a:t>Contains real hospital supply data, covering supplier details, order quantities, delivery statuses, and costs.</a:t>
            </a:r>
          </a:p>
          <a:p>
            <a:pPr algn="l" marL="0" indent="0" lvl="0">
              <a:lnSpc>
                <a:spcPts val="3002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570959" y="2180921"/>
            <a:ext cx="6273391" cy="5862769"/>
          </a:xfrm>
          <a:custGeom>
            <a:avLst/>
            <a:gdLst/>
            <a:ahLst/>
            <a:cxnLst/>
            <a:rect r="r" b="b" t="t" l="l"/>
            <a:pathLst>
              <a:path h="5862769" w="6273391">
                <a:moveTo>
                  <a:pt x="0" y="0"/>
                </a:moveTo>
                <a:lnTo>
                  <a:pt x="6273391" y="0"/>
                </a:lnTo>
                <a:lnTo>
                  <a:pt x="6273391" y="5862769"/>
                </a:lnTo>
                <a:lnTo>
                  <a:pt x="0" y="58627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72645" y="2817952"/>
            <a:ext cx="6586655" cy="5407686"/>
          </a:xfrm>
          <a:custGeom>
            <a:avLst/>
            <a:gdLst/>
            <a:ahLst/>
            <a:cxnLst/>
            <a:rect r="r" b="b" t="t" l="l"/>
            <a:pathLst>
              <a:path h="5407686" w="6586655">
                <a:moveTo>
                  <a:pt x="0" y="0"/>
                </a:moveTo>
                <a:lnTo>
                  <a:pt x="6586655" y="0"/>
                </a:lnTo>
                <a:lnTo>
                  <a:pt x="6586655" y="5407686"/>
                </a:lnTo>
                <a:lnTo>
                  <a:pt x="0" y="54076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44961"/>
            <a:ext cx="9316986" cy="1400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10000" spc="-600">
                <a:solidFill>
                  <a:srgbClr val="0B4E7C"/>
                </a:solidFill>
                <a:latin typeface="Poppins"/>
                <a:ea typeface="Poppins"/>
                <a:cs typeface="Poppins"/>
                <a:sym typeface="Poppins"/>
              </a:rPr>
              <a:t>DATA SOURCES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024725"/>
            <a:ext cx="10280947" cy="7993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9"/>
              </a:lnSpc>
            </a:pPr>
            <a:r>
              <a:rPr lang="en-US" b="true" sz="2451" spc="147">
                <a:solidFill>
                  <a:srgbClr val="0B4E7C"/>
                </a:solidFill>
                <a:latin typeface="Poppins Bold"/>
                <a:ea typeface="Poppins Bold"/>
                <a:cs typeface="Poppins Bold"/>
                <a:sym typeface="Poppins Bold"/>
              </a:rPr>
              <a:t>SOURCE TYPE:-</a:t>
            </a:r>
          </a:p>
          <a:p>
            <a:pPr algn="just">
              <a:lnSpc>
                <a:spcPts val="3309"/>
              </a:lnSpc>
            </a:pPr>
            <a:r>
              <a:rPr lang="en-US" sz="2451" spc="147">
                <a:solidFill>
                  <a:srgbClr val="0B4E7C"/>
                </a:solidFill>
                <a:latin typeface="Poppins"/>
                <a:ea typeface="Poppins"/>
                <a:cs typeface="Poppins"/>
                <a:sym typeface="Poppins"/>
              </a:rPr>
              <a:t>CSV files, SQL databases </a:t>
            </a:r>
          </a:p>
          <a:p>
            <a:pPr algn="just">
              <a:lnSpc>
                <a:spcPts val="3309"/>
              </a:lnSpc>
            </a:pPr>
          </a:p>
          <a:p>
            <a:pPr algn="just">
              <a:lnSpc>
                <a:spcPts val="3309"/>
              </a:lnSpc>
            </a:pPr>
            <a:r>
              <a:rPr lang="en-US" b="true" sz="2451" spc="147">
                <a:solidFill>
                  <a:srgbClr val="0B4E7C"/>
                </a:solidFill>
                <a:latin typeface="Poppins Bold"/>
                <a:ea typeface="Poppins Bold"/>
                <a:cs typeface="Poppins Bold"/>
                <a:sym typeface="Poppins Bold"/>
              </a:rPr>
              <a:t>STRUCTURE OF THE DATA</a:t>
            </a:r>
            <a:r>
              <a:rPr lang="en-US" b="true" sz="2451" spc="147">
                <a:solidFill>
                  <a:srgbClr val="0B4E7C"/>
                </a:solidFill>
                <a:latin typeface="Poppins Bold"/>
                <a:ea typeface="Poppins Bold"/>
                <a:cs typeface="Poppins Bold"/>
                <a:sym typeface="Poppins Bold"/>
              </a:rPr>
              <a:t>:-</a:t>
            </a:r>
          </a:p>
          <a:p>
            <a:pPr algn="just" marL="529242" indent="-264621" lvl="1">
              <a:lnSpc>
                <a:spcPts val="3309"/>
              </a:lnSpc>
              <a:buAutoNum type="arabicPeriod" startAt="1"/>
            </a:pPr>
            <a:r>
              <a:rPr lang="en-US" b="true" sz="2451" spc="147">
                <a:solidFill>
                  <a:srgbClr val="0B4E7C"/>
                </a:solidFill>
                <a:latin typeface="Poppins Bold"/>
                <a:ea typeface="Poppins Bold"/>
                <a:cs typeface="Poppins Bold"/>
                <a:sym typeface="Poppins Bold"/>
              </a:rPr>
              <a:t>Rows</a:t>
            </a:r>
            <a:r>
              <a:rPr lang="en-US" sz="2451" spc="147">
                <a:solidFill>
                  <a:srgbClr val="0B4E7C"/>
                </a:solidFill>
                <a:latin typeface="Poppins"/>
                <a:ea typeface="Poppins"/>
                <a:cs typeface="Poppins"/>
                <a:sym typeface="Poppins"/>
              </a:rPr>
              <a:t>: It contains 8000 rows Each represents an order placed to a supplier.</a:t>
            </a:r>
          </a:p>
          <a:p>
            <a:pPr algn="just" marL="529242" indent="-264621" lvl="1">
              <a:lnSpc>
                <a:spcPts val="3309"/>
              </a:lnSpc>
              <a:buAutoNum type="arabicPeriod" startAt="1"/>
            </a:pPr>
            <a:r>
              <a:rPr lang="en-US" b="true" sz="2451" spc="147">
                <a:solidFill>
                  <a:srgbClr val="0B4E7C"/>
                </a:solidFill>
                <a:latin typeface="Poppins Bold"/>
                <a:ea typeface="Poppins Bold"/>
                <a:cs typeface="Poppins Bold"/>
                <a:sym typeface="Poppins Bold"/>
              </a:rPr>
              <a:t>Columns</a:t>
            </a:r>
            <a:r>
              <a:rPr lang="en-US" sz="2451" spc="147">
                <a:solidFill>
                  <a:srgbClr val="0B4E7C"/>
                </a:solidFill>
                <a:latin typeface="Poppins"/>
                <a:ea typeface="Poppins"/>
                <a:cs typeface="Poppins"/>
                <a:sym typeface="Poppins"/>
              </a:rPr>
              <a:t>: It contains 10 clumns </a:t>
            </a:r>
          </a:p>
          <a:p>
            <a:pPr algn="just" marL="529242" indent="-264621" lvl="1">
              <a:lnSpc>
                <a:spcPts val="3309"/>
              </a:lnSpc>
              <a:buFont typeface="Arial"/>
              <a:buChar char="•"/>
            </a:pPr>
            <a:r>
              <a:rPr lang="en-US" sz="2451" spc="147">
                <a:solidFill>
                  <a:srgbClr val="0B4E7C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2451" spc="147">
                <a:solidFill>
                  <a:srgbClr val="0B4E7C"/>
                </a:solidFill>
                <a:latin typeface="Poppins"/>
                <a:ea typeface="Poppins"/>
                <a:cs typeface="Poppins"/>
                <a:sym typeface="Poppins"/>
              </a:rPr>
              <a:t>hich includes:-</a:t>
            </a:r>
          </a:p>
          <a:p>
            <a:pPr algn="just" marL="529242" indent="-264621" lvl="1">
              <a:lnSpc>
                <a:spcPts val="3309"/>
              </a:lnSpc>
              <a:buFont typeface="Arial"/>
              <a:buChar char="•"/>
            </a:pPr>
            <a:r>
              <a:rPr lang="en-US" sz="2451" spc="147">
                <a:solidFill>
                  <a:srgbClr val="0B4E7C"/>
                </a:solidFill>
                <a:latin typeface="Poppins"/>
                <a:ea typeface="Poppins"/>
                <a:cs typeface="Poppins"/>
                <a:sym typeface="Poppins"/>
              </a:rPr>
              <a:t>Id,</a:t>
            </a:r>
          </a:p>
          <a:p>
            <a:pPr algn="just" marL="529242" indent="-264621" lvl="1">
              <a:lnSpc>
                <a:spcPts val="3309"/>
              </a:lnSpc>
              <a:buFont typeface="Arial"/>
              <a:buChar char="•"/>
            </a:pPr>
            <a:r>
              <a:rPr lang="en-US" sz="2451" spc="147">
                <a:solidFill>
                  <a:srgbClr val="0B4E7C"/>
                </a:solidFill>
                <a:latin typeface="Poppins"/>
                <a:ea typeface="Poppins"/>
                <a:cs typeface="Poppins"/>
                <a:sym typeface="Poppins"/>
              </a:rPr>
              <a:t>Supplier name</a:t>
            </a:r>
          </a:p>
          <a:p>
            <a:pPr algn="just" marL="529242" indent="-264621" lvl="1">
              <a:lnSpc>
                <a:spcPts val="3309"/>
              </a:lnSpc>
              <a:buFont typeface="Arial"/>
              <a:buChar char="•"/>
            </a:pPr>
            <a:r>
              <a:rPr lang="en-US" sz="2451" spc="147">
                <a:solidFill>
                  <a:srgbClr val="0B4E7C"/>
                </a:solidFill>
                <a:latin typeface="Poppins"/>
                <a:ea typeface="Poppins"/>
                <a:cs typeface="Poppins"/>
                <a:sym typeface="Poppins"/>
              </a:rPr>
              <a:t>Item Name </a:t>
            </a:r>
          </a:p>
          <a:p>
            <a:pPr algn="just" marL="529242" indent="-264621" lvl="1">
              <a:lnSpc>
                <a:spcPts val="3309"/>
              </a:lnSpc>
              <a:buFont typeface="Arial"/>
              <a:buChar char="•"/>
            </a:pPr>
            <a:r>
              <a:rPr lang="en-US" sz="2451" spc="147">
                <a:solidFill>
                  <a:srgbClr val="0B4E7C"/>
                </a:solidFill>
                <a:latin typeface="Poppins"/>
                <a:ea typeface="Poppins"/>
                <a:cs typeface="Poppins"/>
                <a:sym typeface="Poppins"/>
              </a:rPr>
              <a:t>Order date </a:t>
            </a:r>
          </a:p>
          <a:p>
            <a:pPr algn="just" marL="529242" indent="-264621" lvl="1">
              <a:lnSpc>
                <a:spcPts val="3309"/>
              </a:lnSpc>
              <a:buFont typeface="Arial"/>
              <a:buChar char="•"/>
            </a:pPr>
            <a:r>
              <a:rPr lang="en-US" sz="2451" spc="147">
                <a:solidFill>
                  <a:srgbClr val="0B4E7C"/>
                </a:solidFill>
                <a:latin typeface="Poppins"/>
                <a:ea typeface="Poppins"/>
                <a:cs typeface="Poppins"/>
                <a:sym typeface="Poppins"/>
              </a:rPr>
              <a:t>Delivery date </a:t>
            </a:r>
          </a:p>
          <a:p>
            <a:pPr algn="just" marL="529242" indent="-264621" lvl="1">
              <a:lnSpc>
                <a:spcPts val="3309"/>
              </a:lnSpc>
              <a:buFont typeface="Arial"/>
              <a:buChar char="•"/>
            </a:pPr>
            <a:r>
              <a:rPr lang="en-US" sz="2451" spc="147">
                <a:solidFill>
                  <a:srgbClr val="0B4E7C"/>
                </a:solidFill>
                <a:latin typeface="Poppins"/>
                <a:ea typeface="Poppins"/>
                <a:cs typeface="Poppins"/>
                <a:sym typeface="Poppins"/>
              </a:rPr>
              <a:t>Storage location </a:t>
            </a:r>
          </a:p>
          <a:p>
            <a:pPr algn="just" marL="529242" indent="-264621" lvl="1">
              <a:lnSpc>
                <a:spcPts val="3309"/>
              </a:lnSpc>
              <a:buFont typeface="Arial"/>
              <a:buChar char="•"/>
            </a:pPr>
            <a:r>
              <a:rPr lang="en-US" sz="2451" spc="147">
                <a:solidFill>
                  <a:srgbClr val="0B4E7C"/>
                </a:solidFill>
                <a:latin typeface="Poppins"/>
                <a:ea typeface="Poppins"/>
                <a:cs typeface="Poppins"/>
                <a:sym typeface="Poppins"/>
              </a:rPr>
              <a:t>Cost per unit</a:t>
            </a:r>
          </a:p>
          <a:p>
            <a:pPr algn="just" marL="529242" indent="-264621" lvl="1">
              <a:lnSpc>
                <a:spcPts val="3309"/>
              </a:lnSpc>
              <a:buFont typeface="Arial"/>
              <a:buChar char="•"/>
            </a:pPr>
            <a:r>
              <a:rPr lang="en-US" sz="2451" spc="147">
                <a:solidFill>
                  <a:srgbClr val="0B4E7C"/>
                </a:solidFill>
                <a:latin typeface="Poppins"/>
                <a:ea typeface="Poppins"/>
                <a:cs typeface="Poppins"/>
                <a:sym typeface="Poppins"/>
              </a:rPr>
              <a:t>Quantity</a:t>
            </a:r>
          </a:p>
          <a:p>
            <a:pPr algn="just" marL="529242" indent="-264621" lvl="1">
              <a:lnSpc>
                <a:spcPts val="3309"/>
              </a:lnSpc>
              <a:buFont typeface="Arial"/>
              <a:buChar char="•"/>
            </a:pPr>
            <a:r>
              <a:rPr lang="en-US" sz="2451" spc="147">
                <a:solidFill>
                  <a:srgbClr val="0B4E7C"/>
                </a:solidFill>
                <a:latin typeface="Poppins"/>
                <a:ea typeface="Poppins"/>
                <a:cs typeface="Poppins"/>
                <a:sym typeface="Poppins"/>
              </a:rPr>
              <a:t>Stock status</a:t>
            </a:r>
          </a:p>
          <a:p>
            <a:pPr algn="just" marL="529242" indent="-264621" lvl="1">
              <a:lnSpc>
                <a:spcPts val="3309"/>
              </a:lnSpc>
              <a:buFont typeface="Arial"/>
              <a:buChar char="•"/>
            </a:pPr>
            <a:r>
              <a:rPr lang="en-US" sz="2451" spc="147">
                <a:solidFill>
                  <a:srgbClr val="0B4E7C"/>
                </a:solidFill>
                <a:latin typeface="Poppins"/>
                <a:ea typeface="Poppins"/>
                <a:cs typeface="Poppins"/>
                <a:sym typeface="Poppins"/>
              </a:rPr>
              <a:t>Total cost</a:t>
            </a:r>
          </a:p>
          <a:p>
            <a:pPr algn="l">
              <a:lnSpc>
                <a:spcPts val="330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81209"/>
            <a:ext cx="16230600" cy="9110666"/>
            <a:chOff x="0" y="0"/>
            <a:chExt cx="4274726" cy="23995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399517"/>
            </a:xfrm>
            <a:custGeom>
              <a:avLst/>
              <a:gdLst/>
              <a:ahLst/>
              <a:cxnLst/>
              <a:rect r="r" b="b" t="t" l="l"/>
              <a:pathLst>
                <a:path h="2399517" w="4274726">
                  <a:moveTo>
                    <a:pt x="10494" y="0"/>
                  </a:moveTo>
                  <a:lnTo>
                    <a:pt x="4264232" y="0"/>
                  </a:lnTo>
                  <a:cubicBezTo>
                    <a:pt x="4270028" y="0"/>
                    <a:pt x="4274726" y="4698"/>
                    <a:pt x="4274726" y="10494"/>
                  </a:cubicBezTo>
                  <a:lnTo>
                    <a:pt x="4274726" y="2389023"/>
                  </a:lnTo>
                  <a:cubicBezTo>
                    <a:pt x="4274726" y="2394819"/>
                    <a:pt x="4270028" y="2399517"/>
                    <a:pt x="4264232" y="2399517"/>
                  </a:cubicBezTo>
                  <a:lnTo>
                    <a:pt x="10494" y="2399517"/>
                  </a:lnTo>
                  <a:cubicBezTo>
                    <a:pt x="7711" y="2399517"/>
                    <a:pt x="5042" y="2398412"/>
                    <a:pt x="3074" y="2396443"/>
                  </a:cubicBezTo>
                  <a:cubicBezTo>
                    <a:pt x="1106" y="2394476"/>
                    <a:pt x="0" y="2391806"/>
                    <a:pt x="0" y="2389023"/>
                  </a:cubicBezTo>
                  <a:lnTo>
                    <a:pt x="0" y="10494"/>
                  </a:lnTo>
                  <a:cubicBezTo>
                    <a:pt x="0" y="4698"/>
                    <a:pt x="4698" y="0"/>
                    <a:pt x="10494" y="0"/>
                  </a:cubicBezTo>
                  <a:close/>
                </a:path>
              </a:pathLst>
            </a:custGeom>
            <a:solidFill>
              <a:srgbClr val="155C9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437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119575" y="3378625"/>
            <a:ext cx="1973592" cy="2489623"/>
          </a:xfrm>
          <a:custGeom>
            <a:avLst/>
            <a:gdLst/>
            <a:ahLst/>
            <a:cxnLst/>
            <a:rect r="r" b="b" t="t" l="l"/>
            <a:pathLst>
              <a:path h="2489623" w="1973592">
                <a:moveTo>
                  <a:pt x="0" y="0"/>
                </a:moveTo>
                <a:lnTo>
                  <a:pt x="1973592" y="0"/>
                </a:lnTo>
                <a:lnTo>
                  <a:pt x="1973592" y="2489623"/>
                </a:lnTo>
                <a:lnTo>
                  <a:pt x="0" y="24896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981204" y="4229543"/>
            <a:ext cx="1312914" cy="913957"/>
            <a:chOff x="0" y="0"/>
            <a:chExt cx="1167601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67601" cy="812800"/>
            </a:xfrm>
            <a:custGeom>
              <a:avLst/>
              <a:gdLst/>
              <a:ahLst/>
              <a:cxnLst/>
              <a:rect r="r" b="b" t="t" l="l"/>
              <a:pathLst>
                <a:path h="812800" w="1167601">
                  <a:moveTo>
                    <a:pt x="1167601" y="406400"/>
                  </a:moveTo>
                  <a:lnTo>
                    <a:pt x="761201" y="0"/>
                  </a:lnTo>
                  <a:lnTo>
                    <a:pt x="761201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761201" y="609600"/>
                  </a:lnTo>
                  <a:lnTo>
                    <a:pt x="761201" y="812800"/>
                  </a:lnTo>
                  <a:lnTo>
                    <a:pt x="1167601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65100"/>
              <a:ext cx="106600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732269" y="3476133"/>
            <a:ext cx="2294606" cy="2294606"/>
          </a:xfrm>
          <a:custGeom>
            <a:avLst/>
            <a:gdLst/>
            <a:ahLst/>
            <a:cxnLst/>
            <a:rect r="r" b="b" t="t" l="l"/>
            <a:pathLst>
              <a:path h="2294606" w="2294606">
                <a:moveTo>
                  <a:pt x="0" y="0"/>
                </a:moveTo>
                <a:lnTo>
                  <a:pt x="2294605" y="0"/>
                </a:lnTo>
                <a:lnTo>
                  <a:pt x="2294605" y="2294606"/>
                </a:lnTo>
                <a:lnTo>
                  <a:pt x="0" y="22946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416136" y="4229543"/>
            <a:ext cx="1312914" cy="913957"/>
            <a:chOff x="0" y="0"/>
            <a:chExt cx="1167601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7601" cy="812800"/>
            </a:xfrm>
            <a:custGeom>
              <a:avLst/>
              <a:gdLst/>
              <a:ahLst/>
              <a:cxnLst/>
              <a:rect r="r" b="b" t="t" l="l"/>
              <a:pathLst>
                <a:path h="812800" w="1167601">
                  <a:moveTo>
                    <a:pt x="1167601" y="406400"/>
                  </a:moveTo>
                  <a:lnTo>
                    <a:pt x="761201" y="0"/>
                  </a:lnTo>
                  <a:lnTo>
                    <a:pt x="761201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761201" y="609600"/>
                  </a:lnTo>
                  <a:lnTo>
                    <a:pt x="761201" y="812800"/>
                  </a:lnTo>
                  <a:lnTo>
                    <a:pt x="1167601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65100"/>
              <a:ext cx="106600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451215" y="3086100"/>
            <a:ext cx="2529989" cy="2879656"/>
          </a:xfrm>
          <a:custGeom>
            <a:avLst/>
            <a:gdLst/>
            <a:ahLst/>
            <a:cxnLst/>
            <a:rect r="r" b="b" t="t" l="l"/>
            <a:pathLst>
              <a:path h="2879656" w="2529989">
                <a:moveTo>
                  <a:pt x="0" y="0"/>
                </a:moveTo>
                <a:lnTo>
                  <a:pt x="2529989" y="0"/>
                </a:lnTo>
                <a:lnTo>
                  <a:pt x="2529989" y="2879656"/>
                </a:lnTo>
                <a:lnTo>
                  <a:pt x="0" y="28796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483692" y="4122586"/>
            <a:ext cx="1312914" cy="913957"/>
            <a:chOff x="0" y="0"/>
            <a:chExt cx="1167601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67601" cy="812800"/>
            </a:xfrm>
            <a:custGeom>
              <a:avLst/>
              <a:gdLst/>
              <a:ahLst/>
              <a:cxnLst/>
              <a:rect r="r" b="b" t="t" l="l"/>
              <a:pathLst>
                <a:path h="812800" w="1167601">
                  <a:moveTo>
                    <a:pt x="1167601" y="406400"/>
                  </a:moveTo>
                  <a:lnTo>
                    <a:pt x="761201" y="0"/>
                  </a:lnTo>
                  <a:lnTo>
                    <a:pt x="761201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761201" y="609600"/>
                  </a:lnTo>
                  <a:lnTo>
                    <a:pt x="761201" y="812800"/>
                  </a:lnTo>
                  <a:lnTo>
                    <a:pt x="1167601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65100"/>
              <a:ext cx="106600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3999262" y="3183608"/>
            <a:ext cx="2645590" cy="2684639"/>
          </a:xfrm>
          <a:custGeom>
            <a:avLst/>
            <a:gdLst/>
            <a:ahLst/>
            <a:cxnLst/>
            <a:rect r="r" b="b" t="t" l="l"/>
            <a:pathLst>
              <a:path h="2684639" w="2645590">
                <a:moveTo>
                  <a:pt x="0" y="0"/>
                </a:moveTo>
                <a:lnTo>
                  <a:pt x="2645590" y="0"/>
                </a:lnTo>
                <a:lnTo>
                  <a:pt x="2645590" y="2684640"/>
                </a:lnTo>
                <a:lnTo>
                  <a:pt x="0" y="26846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136043" y="1133475"/>
            <a:ext cx="10975197" cy="1072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15"/>
              </a:lnSpc>
            </a:pPr>
            <a:r>
              <a:rPr lang="en-US" sz="7723" spc="-4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ARCHITECTURE DIAGRAM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51215" y="6167905"/>
            <a:ext cx="3186446" cy="1257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0"/>
              </a:lnSpc>
            </a:pPr>
            <a:r>
              <a:rPr lang="en-US" sz="360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COLLECTION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81778" y="6338616"/>
            <a:ext cx="279558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21901" y="6338616"/>
            <a:ext cx="4003218" cy="1545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4"/>
              </a:lnSpc>
            </a:pPr>
            <a:r>
              <a:rPr lang="en-US" sz="439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 SERVER STUDIO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90978" y="6338616"/>
            <a:ext cx="324052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POWER BI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3540" y="2921725"/>
            <a:ext cx="6834414" cy="5005933"/>
          </a:xfrm>
          <a:custGeom>
            <a:avLst/>
            <a:gdLst/>
            <a:ahLst/>
            <a:cxnLst/>
            <a:rect r="r" b="b" t="t" l="l"/>
            <a:pathLst>
              <a:path h="5005933" w="6834414">
                <a:moveTo>
                  <a:pt x="0" y="0"/>
                </a:moveTo>
                <a:lnTo>
                  <a:pt x="6834414" y="0"/>
                </a:lnTo>
                <a:lnTo>
                  <a:pt x="6834414" y="5005933"/>
                </a:lnTo>
                <a:lnTo>
                  <a:pt x="0" y="50059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258848" y="3681913"/>
            <a:ext cx="9103718" cy="5576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b="true" sz="3630" spc="217">
                <a:solidFill>
                  <a:srgbClr val="0B4E7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CLEANING:-</a:t>
            </a:r>
          </a:p>
          <a:p>
            <a:pPr algn="just" marL="783721" indent="-391860" lvl="1">
              <a:lnSpc>
                <a:spcPts val="4900"/>
              </a:lnSpc>
              <a:buFont typeface="Arial"/>
              <a:buChar char="•"/>
            </a:pPr>
            <a:r>
              <a:rPr lang="en-US" b="true" sz="3630" spc="217">
                <a:solidFill>
                  <a:srgbClr val="0B4E7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Handleld missing values</a:t>
            </a:r>
          </a:p>
          <a:p>
            <a:pPr algn="just" marL="783721" indent="-391860" lvl="1">
              <a:lnSpc>
                <a:spcPts val="4900"/>
              </a:lnSpc>
              <a:buFont typeface="Arial"/>
              <a:buChar char="•"/>
            </a:pPr>
            <a:r>
              <a:rPr lang="en-US" b="true" sz="3630" spc="217">
                <a:solidFill>
                  <a:srgbClr val="0B4E7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Removed duplicates</a:t>
            </a:r>
          </a:p>
          <a:p>
            <a:pPr algn="just" marL="783721" indent="-391860" lvl="1">
              <a:lnSpc>
                <a:spcPts val="4900"/>
              </a:lnSpc>
              <a:buFont typeface="Arial"/>
              <a:buChar char="•"/>
            </a:pPr>
            <a:r>
              <a:rPr lang="en-US" b="true" sz="3630" spc="217">
                <a:solidFill>
                  <a:srgbClr val="0B4E7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Coreected data types</a:t>
            </a:r>
          </a:p>
          <a:p>
            <a:pPr algn="just" marL="783721" indent="-391860" lvl="1">
              <a:lnSpc>
                <a:spcPts val="4900"/>
              </a:lnSpc>
              <a:buFont typeface="Arial"/>
              <a:buChar char="•"/>
            </a:pPr>
            <a:r>
              <a:rPr lang="en-US" b="true" sz="3630" spc="217">
                <a:solidFill>
                  <a:srgbClr val="0B4E7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Created new fields for analysis</a:t>
            </a:r>
          </a:p>
          <a:p>
            <a:pPr algn="just">
              <a:lnSpc>
                <a:spcPts val="4900"/>
              </a:lnSpc>
            </a:pPr>
          </a:p>
          <a:p>
            <a:pPr algn="just">
              <a:lnSpc>
                <a:spcPts val="4900"/>
              </a:lnSpc>
            </a:pPr>
            <a:r>
              <a:rPr lang="en-US" b="true" sz="3630" spc="217">
                <a:solidFill>
                  <a:srgbClr val="0B4E7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TRANFORMATION</a:t>
            </a:r>
          </a:p>
          <a:p>
            <a:pPr algn="just" marL="783721" indent="-391860" lvl="1">
              <a:lnSpc>
                <a:spcPts val="4900"/>
              </a:lnSpc>
              <a:buFont typeface="Arial"/>
              <a:buChar char="•"/>
            </a:pPr>
            <a:r>
              <a:rPr lang="en-US" b="true" sz="3630" spc="217">
                <a:solidFill>
                  <a:srgbClr val="0B4E7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Created new columns </a:t>
            </a:r>
          </a:p>
          <a:p>
            <a:pPr algn="just" marL="783721" indent="-391860" lvl="1">
              <a:lnSpc>
                <a:spcPts val="4900"/>
              </a:lnSpc>
              <a:buFont typeface="Arial"/>
              <a:buChar char="•"/>
            </a:pPr>
            <a:r>
              <a:rPr lang="en-US" b="true" sz="3630" spc="217">
                <a:solidFill>
                  <a:srgbClr val="0B4E7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Created DAX measures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27954" y="1133475"/>
            <a:ext cx="8996036" cy="19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46"/>
              </a:lnSpc>
            </a:pPr>
            <a:r>
              <a:rPr lang="en-US" sz="7652" spc="-459">
                <a:solidFill>
                  <a:srgbClr val="0B4E7C"/>
                </a:solidFill>
                <a:latin typeface="Poppins"/>
                <a:ea typeface="Poppins"/>
                <a:cs typeface="Poppins"/>
                <a:sym typeface="Poppins"/>
              </a:rPr>
              <a:t>DATA CLEANING &amp; TRANSFOMATION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3165" y="2552702"/>
            <a:ext cx="8101852" cy="7159091"/>
          </a:xfrm>
          <a:custGeom>
            <a:avLst/>
            <a:gdLst/>
            <a:ahLst/>
            <a:cxnLst/>
            <a:rect r="r" b="b" t="t" l="l"/>
            <a:pathLst>
              <a:path h="7159091" w="8101852">
                <a:moveTo>
                  <a:pt x="0" y="0"/>
                </a:moveTo>
                <a:lnTo>
                  <a:pt x="8101852" y="0"/>
                </a:lnTo>
                <a:lnTo>
                  <a:pt x="8101852" y="7159090"/>
                </a:lnTo>
                <a:lnTo>
                  <a:pt x="0" y="71590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588355" y="2552702"/>
            <a:ext cx="7831386" cy="6920098"/>
          </a:xfrm>
          <a:custGeom>
            <a:avLst/>
            <a:gdLst/>
            <a:ahLst/>
            <a:cxnLst/>
            <a:rect r="r" b="b" t="t" l="l"/>
            <a:pathLst>
              <a:path h="6920098" w="7831386">
                <a:moveTo>
                  <a:pt x="0" y="0"/>
                </a:moveTo>
                <a:lnTo>
                  <a:pt x="7831386" y="0"/>
                </a:lnTo>
                <a:lnTo>
                  <a:pt x="7831386" y="6920097"/>
                </a:lnTo>
                <a:lnTo>
                  <a:pt x="0" y="69200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5068825" y="640606"/>
            <a:ext cx="8435223" cy="1400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</a:pPr>
            <a:r>
              <a:rPr lang="en-US" sz="10000" spc="-600">
                <a:solidFill>
                  <a:srgbClr val="0B4E7C"/>
                </a:solidFill>
                <a:latin typeface="Poppins"/>
                <a:ea typeface="Poppins"/>
                <a:cs typeface="Poppins"/>
                <a:sym typeface="Poppins"/>
              </a:rPr>
              <a:t>DATA INSIGHTS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91248" y="2885512"/>
            <a:ext cx="4645683" cy="885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43"/>
              </a:lnSpc>
              <a:spcBef>
                <a:spcPct val="0"/>
              </a:spcBef>
            </a:pPr>
            <a:r>
              <a:rPr lang="en-US" sz="6399" spc="-3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SQL SERVER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9773" y="3942055"/>
            <a:ext cx="7142036" cy="449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5829" indent="-267915" lvl="1">
              <a:lnSpc>
                <a:spcPts val="3549"/>
              </a:lnSpc>
              <a:buFont typeface="Arial"/>
              <a:buChar char="•"/>
            </a:pPr>
            <a:r>
              <a:rPr lang="en-US" b="true" sz="248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Ranked suppliers based on order volume.</a:t>
            </a:r>
          </a:p>
          <a:p>
            <a:pPr algn="just" marL="535829" indent="-267915" lvl="1">
              <a:lnSpc>
                <a:spcPts val="3549"/>
              </a:lnSpc>
              <a:buFont typeface="Arial"/>
              <a:buChar char="•"/>
            </a:pPr>
            <a:r>
              <a:rPr lang="en-US" b="true" sz="248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Found the most reliable and least reliable suppliers based on delivery performance.</a:t>
            </a:r>
          </a:p>
          <a:p>
            <a:pPr algn="just" marL="535829" indent="-267915" lvl="1">
              <a:lnSpc>
                <a:spcPts val="3549"/>
              </a:lnSpc>
              <a:buFont typeface="Arial"/>
              <a:buChar char="•"/>
            </a:pPr>
            <a:r>
              <a:rPr lang="en-US" b="true" sz="248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Identified which month had the highest hospital orders</a:t>
            </a:r>
          </a:p>
          <a:p>
            <a:pPr algn="just" marL="535829" indent="-267915" lvl="1">
              <a:lnSpc>
                <a:spcPts val="3549"/>
              </a:lnSpc>
              <a:buFont typeface="Arial"/>
              <a:buChar char="•"/>
            </a:pPr>
            <a:r>
              <a:rPr lang="en-US" sz="24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Hghest and lowest item in supply</a:t>
            </a:r>
          </a:p>
          <a:p>
            <a:pPr algn="just" marL="535829" indent="-267915" lvl="1">
              <a:lnSpc>
                <a:spcPts val="3549"/>
              </a:lnSpc>
              <a:buFont typeface="Arial"/>
              <a:buChar char="•"/>
            </a:pPr>
            <a:r>
              <a:rPr lang="en-US" sz="24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Determined total spending per supplier</a:t>
            </a:r>
          </a:p>
          <a:p>
            <a:pPr algn="just" marL="535829" indent="-267915" lvl="1">
              <a:lnSpc>
                <a:spcPts val="3549"/>
              </a:lnSpc>
              <a:buFont typeface="Arial"/>
              <a:buChar char="•"/>
            </a:pPr>
            <a:r>
              <a:rPr lang="en-US" sz="24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Average time take for delivery</a:t>
            </a:r>
          </a:p>
          <a:p>
            <a:pPr algn="just" marL="535829" indent="-267915" lvl="1">
              <a:lnSpc>
                <a:spcPts val="3549"/>
              </a:lnSpc>
              <a:buFont typeface="Arial"/>
              <a:buChar char="•"/>
            </a:pPr>
            <a:r>
              <a:rPr lang="en-US" sz="24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Identity the items which are about to expire 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83885" y="2944201"/>
            <a:ext cx="4440326" cy="75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sz="5500" spc="-3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POWER BI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79685" y="3807112"/>
            <a:ext cx="6879201" cy="4630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2293" indent="-251147" lvl="1">
              <a:lnSpc>
                <a:spcPts val="3326"/>
              </a:lnSpc>
              <a:buFont typeface="Arial"/>
              <a:buChar char="•"/>
            </a:pPr>
            <a:r>
              <a:rPr lang="en-US" b="true" sz="2326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Created few cards and KPI for total order,revenue and average cost</a:t>
            </a:r>
          </a:p>
          <a:p>
            <a:pPr algn="just" marL="502293" indent="-251147" lvl="1">
              <a:lnSpc>
                <a:spcPts val="3326"/>
              </a:lnSpc>
              <a:buFont typeface="Arial"/>
              <a:buChar char="•"/>
            </a:pPr>
            <a:r>
              <a:rPr lang="en-US" b="true" sz="2326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Pie charts for expiey and stock status </a:t>
            </a:r>
          </a:p>
          <a:p>
            <a:pPr algn="just" marL="502293" indent="-251147" lvl="1">
              <a:lnSpc>
                <a:spcPts val="3326"/>
              </a:lnSpc>
              <a:buFont typeface="Arial"/>
              <a:buChar char="•"/>
            </a:pPr>
            <a:r>
              <a:rPr lang="en-US" b="true" sz="2326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Donut chart delivery status and location</a:t>
            </a:r>
          </a:p>
          <a:p>
            <a:pPr algn="just" marL="502293" indent="-251147" lvl="1">
              <a:lnSpc>
                <a:spcPts val="3326"/>
              </a:lnSpc>
              <a:buFont typeface="Arial"/>
              <a:buChar char="•"/>
            </a:pPr>
            <a:r>
              <a:rPr lang="en-US" b="true" sz="2326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Line chart for monthly trend </a:t>
            </a:r>
          </a:p>
          <a:p>
            <a:pPr algn="just" marL="502293" indent="-251147" lvl="1">
              <a:lnSpc>
                <a:spcPts val="3326"/>
              </a:lnSpc>
              <a:buFont typeface="Arial"/>
              <a:buChar char="•"/>
            </a:pPr>
            <a:r>
              <a:rPr lang="en-US" b="true" sz="2326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Bar chart for orders by supplies</a:t>
            </a:r>
          </a:p>
          <a:p>
            <a:pPr algn="just" marL="502293" indent="-251147" lvl="1">
              <a:lnSpc>
                <a:spcPts val="3326"/>
              </a:lnSpc>
              <a:buFont typeface="Arial"/>
              <a:buChar char="•"/>
            </a:pPr>
            <a:r>
              <a:rPr lang="en-US" b="true" sz="2326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Colum chart for orders by year and location</a:t>
            </a:r>
          </a:p>
          <a:p>
            <a:pPr algn="just" marL="502293" indent="-251147" lvl="1">
              <a:lnSpc>
                <a:spcPts val="3326"/>
              </a:lnSpc>
              <a:buFont typeface="Arial"/>
              <a:buChar char="•"/>
            </a:pPr>
            <a:r>
              <a:rPr lang="en-US" b="true" sz="2326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Funnel chart for delivery status and cost</a:t>
            </a:r>
          </a:p>
          <a:p>
            <a:pPr algn="just" marL="502293" indent="-251147" lvl="1">
              <a:lnSpc>
                <a:spcPts val="3326"/>
              </a:lnSpc>
              <a:buFont typeface="Arial"/>
              <a:buChar char="•"/>
            </a:pPr>
            <a:r>
              <a:rPr lang="en-US" b="true" sz="2326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Sctterplot forper unit supplies </a:t>
            </a:r>
          </a:p>
          <a:p>
            <a:pPr algn="just" marL="502293" indent="-251147" lvl="1">
              <a:lnSpc>
                <a:spcPts val="3326"/>
              </a:lnSpc>
              <a:buFont typeface="Arial"/>
              <a:buChar char="•"/>
            </a:pPr>
            <a:r>
              <a:rPr lang="en-US" b="true" sz="2326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Waterfall for cost by suppliers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7835" y="297387"/>
            <a:ext cx="16815650" cy="9354437"/>
            <a:chOff x="0" y="0"/>
            <a:chExt cx="4428813" cy="24637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28813" cy="2463720"/>
            </a:xfrm>
            <a:custGeom>
              <a:avLst/>
              <a:gdLst/>
              <a:ahLst/>
              <a:cxnLst/>
              <a:rect r="r" b="b" t="t" l="l"/>
              <a:pathLst>
                <a:path h="2463720" w="4428813">
                  <a:moveTo>
                    <a:pt x="10129" y="0"/>
                  </a:moveTo>
                  <a:lnTo>
                    <a:pt x="4418685" y="0"/>
                  </a:lnTo>
                  <a:cubicBezTo>
                    <a:pt x="4421371" y="0"/>
                    <a:pt x="4423947" y="1067"/>
                    <a:pt x="4425847" y="2967"/>
                  </a:cubicBezTo>
                  <a:cubicBezTo>
                    <a:pt x="4427746" y="4866"/>
                    <a:pt x="4428813" y="7442"/>
                    <a:pt x="4428813" y="10129"/>
                  </a:cubicBezTo>
                  <a:lnTo>
                    <a:pt x="4428813" y="2453591"/>
                  </a:lnTo>
                  <a:cubicBezTo>
                    <a:pt x="4428813" y="2456278"/>
                    <a:pt x="4427746" y="2458854"/>
                    <a:pt x="4425847" y="2460753"/>
                  </a:cubicBezTo>
                  <a:cubicBezTo>
                    <a:pt x="4423947" y="2462653"/>
                    <a:pt x="4421371" y="2463720"/>
                    <a:pt x="4418685" y="2463720"/>
                  </a:cubicBezTo>
                  <a:lnTo>
                    <a:pt x="10129" y="2463720"/>
                  </a:lnTo>
                  <a:cubicBezTo>
                    <a:pt x="7442" y="2463720"/>
                    <a:pt x="4866" y="2462653"/>
                    <a:pt x="2967" y="2460753"/>
                  </a:cubicBezTo>
                  <a:cubicBezTo>
                    <a:pt x="1067" y="2458854"/>
                    <a:pt x="0" y="2456278"/>
                    <a:pt x="0" y="2453591"/>
                  </a:cubicBezTo>
                  <a:lnTo>
                    <a:pt x="0" y="10129"/>
                  </a:lnTo>
                  <a:cubicBezTo>
                    <a:pt x="0" y="7442"/>
                    <a:pt x="1067" y="4866"/>
                    <a:pt x="2967" y="2967"/>
                  </a:cubicBezTo>
                  <a:cubicBezTo>
                    <a:pt x="4866" y="1067"/>
                    <a:pt x="7442" y="0"/>
                    <a:pt x="10129" y="0"/>
                  </a:cubicBezTo>
                  <a:close/>
                </a:path>
              </a:pathLst>
            </a:custGeom>
            <a:solidFill>
              <a:srgbClr val="155C9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28813" cy="2501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935520" y="1564935"/>
            <a:ext cx="14416961" cy="7904176"/>
          </a:xfrm>
          <a:custGeom>
            <a:avLst/>
            <a:gdLst/>
            <a:ahLst/>
            <a:cxnLst/>
            <a:rect r="r" b="b" t="t" l="l"/>
            <a:pathLst>
              <a:path h="7904176" w="14416961">
                <a:moveTo>
                  <a:pt x="0" y="0"/>
                </a:moveTo>
                <a:lnTo>
                  <a:pt x="14416960" y="0"/>
                </a:lnTo>
                <a:lnTo>
                  <a:pt x="14416960" y="7904176"/>
                </a:lnTo>
                <a:lnTo>
                  <a:pt x="0" y="7904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2" t="-1255" r="-744" b="-402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35520" y="587715"/>
            <a:ext cx="14195660" cy="97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78"/>
              </a:lnSpc>
            </a:pPr>
            <a:r>
              <a:rPr lang="en-US" b="true" sz="7061" spc="-423">
                <a:solidFill>
                  <a:srgbClr val="FCFCFC"/>
                </a:solidFill>
                <a:latin typeface="Poppins Bold"/>
                <a:ea typeface="Poppins Bold"/>
                <a:cs typeface="Poppins Bold"/>
                <a:sym typeface="Poppins Bold"/>
              </a:rPr>
              <a:t>POWER BI DASHBOARD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7835" y="297387"/>
            <a:ext cx="16815650" cy="9354437"/>
            <a:chOff x="0" y="0"/>
            <a:chExt cx="4428813" cy="24637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28813" cy="2463720"/>
            </a:xfrm>
            <a:custGeom>
              <a:avLst/>
              <a:gdLst/>
              <a:ahLst/>
              <a:cxnLst/>
              <a:rect r="r" b="b" t="t" l="l"/>
              <a:pathLst>
                <a:path h="2463720" w="4428813">
                  <a:moveTo>
                    <a:pt x="10129" y="0"/>
                  </a:moveTo>
                  <a:lnTo>
                    <a:pt x="4418685" y="0"/>
                  </a:lnTo>
                  <a:cubicBezTo>
                    <a:pt x="4421371" y="0"/>
                    <a:pt x="4423947" y="1067"/>
                    <a:pt x="4425847" y="2967"/>
                  </a:cubicBezTo>
                  <a:cubicBezTo>
                    <a:pt x="4427746" y="4866"/>
                    <a:pt x="4428813" y="7442"/>
                    <a:pt x="4428813" y="10129"/>
                  </a:cubicBezTo>
                  <a:lnTo>
                    <a:pt x="4428813" y="2453591"/>
                  </a:lnTo>
                  <a:cubicBezTo>
                    <a:pt x="4428813" y="2456278"/>
                    <a:pt x="4427746" y="2458854"/>
                    <a:pt x="4425847" y="2460753"/>
                  </a:cubicBezTo>
                  <a:cubicBezTo>
                    <a:pt x="4423947" y="2462653"/>
                    <a:pt x="4421371" y="2463720"/>
                    <a:pt x="4418685" y="2463720"/>
                  </a:cubicBezTo>
                  <a:lnTo>
                    <a:pt x="10129" y="2463720"/>
                  </a:lnTo>
                  <a:cubicBezTo>
                    <a:pt x="7442" y="2463720"/>
                    <a:pt x="4866" y="2462653"/>
                    <a:pt x="2967" y="2460753"/>
                  </a:cubicBezTo>
                  <a:cubicBezTo>
                    <a:pt x="1067" y="2458854"/>
                    <a:pt x="0" y="2456278"/>
                    <a:pt x="0" y="2453591"/>
                  </a:cubicBezTo>
                  <a:lnTo>
                    <a:pt x="0" y="10129"/>
                  </a:lnTo>
                  <a:cubicBezTo>
                    <a:pt x="0" y="7442"/>
                    <a:pt x="1067" y="4866"/>
                    <a:pt x="2967" y="2967"/>
                  </a:cubicBezTo>
                  <a:cubicBezTo>
                    <a:pt x="4866" y="1067"/>
                    <a:pt x="7442" y="0"/>
                    <a:pt x="10129" y="0"/>
                  </a:cubicBezTo>
                  <a:close/>
                </a:path>
              </a:pathLst>
            </a:custGeom>
            <a:solidFill>
              <a:srgbClr val="155C9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28813" cy="2501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935520" y="587715"/>
            <a:ext cx="14195660" cy="97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78"/>
              </a:lnSpc>
            </a:pPr>
            <a:r>
              <a:rPr lang="en-US" b="true" sz="7061" spc="-423">
                <a:solidFill>
                  <a:srgbClr val="FCFCFC"/>
                </a:solidFill>
                <a:latin typeface="Poppins Bold"/>
                <a:ea typeface="Poppins Bold"/>
                <a:cs typeface="Poppins Bold"/>
                <a:sym typeface="Poppins Bold"/>
              </a:rPr>
              <a:t>POWER BI DASHBOARD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935520" y="1487326"/>
            <a:ext cx="14620030" cy="8016385"/>
          </a:xfrm>
          <a:custGeom>
            <a:avLst/>
            <a:gdLst/>
            <a:ahLst/>
            <a:cxnLst/>
            <a:rect r="r" b="b" t="t" l="l"/>
            <a:pathLst>
              <a:path h="8016385" w="14620030">
                <a:moveTo>
                  <a:pt x="0" y="0"/>
                </a:moveTo>
                <a:lnTo>
                  <a:pt x="14620030" y="0"/>
                </a:lnTo>
                <a:lnTo>
                  <a:pt x="14620030" y="8016385"/>
                </a:lnTo>
                <a:lnTo>
                  <a:pt x="0" y="80163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02" r="0" b="-1202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63162" y="-789039"/>
            <a:ext cx="2875332" cy="3635478"/>
          </a:xfrm>
          <a:custGeom>
            <a:avLst/>
            <a:gdLst/>
            <a:ahLst/>
            <a:cxnLst/>
            <a:rect r="r" b="b" t="t" l="l"/>
            <a:pathLst>
              <a:path h="3635478" w="2875332">
                <a:moveTo>
                  <a:pt x="0" y="0"/>
                </a:moveTo>
                <a:lnTo>
                  <a:pt x="2875333" y="0"/>
                </a:lnTo>
                <a:lnTo>
                  <a:pt x="2875333" y="3635478"/>
                </a:lnTo>
                <a:lnTo>
                  <a:pt x="0" y="36354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1044801" y="9258300"/>
            <a:ext cx="5315394" cy="1913542"/>
          </a:xfrm>
          <a:custGeom>
            <a:avLst/>
            <a:gdLst/>
            <a:ahLst/>
            <a:cxnLst/>
            <a:rect r="r" b="b" t="t" l="l"/>
            <a:pathLst>
              <a:path h="1913542" w="5315394">
                <a:moveTo>
                  <a:pt x="0" y="0"/>
                </a:moveTo>
                <a:lnTo>
                  <a:pt x="5315394" y="0"/>
                </a:lnTo>
                <a:lnTo>
                  <a:pt x="5315394" y="1913542"/>
                </a:lnTo>
                <a:lnTo>
                  <a:pt x="0" y="19135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4624977" y="2511993"/>
            <a:ext cx="8880167" cy="6364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654"/>
              </a:lnSpc>
            </a:pPr>
            <a:r>
              <a:rPr lang="en-US" sz="15064" spc="-903">
                <a:solidFill>
                  <a:srgbClr val="0B4E7C"/>
                </a:solidFill>
                <a:latin typeface="Sergio Trendy"/>
                <a:ea typeface="Sergio Trendy"/>
                <a:cs typeface="Sergio Trendy"/>
                <a:sym typeface="Sergio Trendy"/>
              </a:rPr>
              <a:t>THANK YOU VERY MUCH!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2830164">
            <a:off x="5322070" y="8801780"/>
            <a:ext cx="3550978" cy="3705954"/>
          </a:xfrm>
          <a:custGeom>
            <a:avLst/>
            <a:gdLst/>
            <a:ahLst/>
            <a:cxnLst/>
            <a:rect r="r" b="b" t="t" l="l"/>
            <a:pathLst>
              <a:path h="3705954" w="3550978">
                <a:moveTo>
                  <a:pt x="0" y="0"/>
                </a:moveTo>
                <a:lnTo>
                  <a:pt x="3550978" y="0"/>
                </a:lnTo>
                <a:lnTo>
                  <a:pt x="3550978" y="3705955"/>
                </a:lnTo>
                <a:lnTo>
                  <a:pt x="0" y="3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50933">
            <a:off x="-2582731" y="3638336"/>
            <a:ext cx="4236628" cy="4828066"/>
          </a:xfrm>
          <a:custGeom>
            <a:avLst/>
            <a:gdLst/>
            <a:ahLst/>
            <a:cxnLst/>
            <a:rect r="r" b="b" t="t" l="l"/>
            <a:pathLst>
              <a:path h="4828066" w="4236628">
                <a:moveTo>
                  <a:pt x="0" y="0"/>
                </a:moveTo>
                <a:lnTo>
                  <a:pt x="4236628" y="0"/>
                </a:lnTo>
                <a:lnTo>
                  <a:pt x="4236628" y="4828066"/>
                </a:lnTo>
                <a:lnTo>
                  <a:pt x="0" y="48280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584336" y="-1920382"/>
            <a:ext cx="4623736" cy="3907057"/>
          </a:xfrm>
          <a:custGeom>
            <a:avLst/>
            <a:gdLst/>
            <a:ahLst/>
            <a:cxnLst/>
            <a:rect r="r" b="b" t="t" l="l"/>
            <a:pathLst>
              <a:path h="3907057" w="4623736">
                <a:moveTo>
                  <a:pt x="0" y="0"/>
                </a:moveTo>
                <a:lnTo>
                  <a:pt x="4623735" y="0"/>
                </a:lnTo>
                <a:lnTo>
                  <a:pt x="4623735" y="3907057"/>
                </a:lnTo>
                <a:lnTo>
                  <a:pt x="0" y="39070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-366315">
            <a:off x="16272866" y="2044607"/>
            <a:ext cx="3659690" cy="4299195"/>
          </a:xfrm>
          <a:custGeom>
            <a:avLst/>
            <a:gdLst/>
            <a:ahLst/>
            <a:cxnLst/>
            <a:rect r="r" b="b" t="t" l="l"/>
            <a:pathLst>
              <a:path h="4299195" w="3659690">
                <a:moveTo>
                  <a:pt x="0" y="0"/>
                </a:moveTo>
                <a:lnTo>
                  <a:pt x="3659690" y="0"/>
                </a:lnTo>
                <a:lnTo>
                  <a:pt x="3659690" y="4299195"/>
                </a:lnTo>
                <a:lnTo>
                  <a:pt x="0" y="429919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624977" y="-3611469"/>
            <a:ext cx="4567505" cy="4720935"/>
          </a:xfrm>
          <a:custGeom>
            <a:avLst/>
            <a:gdLst/>
            <a:ahLst/>
            <a:cxnLst/>
            <a:rect r="r" b="b" t="t" l="l"/>
            <a:pathLst>
              <a:path h="4720935" w="4567505">
                <a:moveTo>
                  <a:pt x="0" y="0"/>
                </a:moveTo>
                <a:lnTo>
                  <a:pt x="4567505" y="0"/>
                </a:lnTo>
                <a:lnTo>
                  <a:pt x="4567505" y="4720935"/>
                </a:lnTo>
                <a:lnTo>
                  <a:pt x="0" y="472093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9924524" y="8931997"/>
            <a:ext cx="5331561" cy="3445521"/>
          </a:xfrm>
          <a:custGeom>
            <a:avLst/>
            <a:gdLst/>
            <a:ahLst/>
            <a:cxnLst/>
            <a:rect r="r" b="b" t="t" l="l"/>
            <a:pathLst>
              <a:path h="3445521" w="5331561">
                <a:moveTo>
                  <a:pt x="0" y="0"/>
                </a:moveTo>
                <a:lnTo>
                  <a:pt x="5331562" y="0"/>
                </a:lnTo>
                <a:lnTo>
                  <a:pt x="5331562" y="3445521"/>
                </a:lnTo>
                <a:lnTo>
                  <a:pt x="0" y="344552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5513261" y="7125624"/>
            <a:ext cx="3869837" cy="4265352"/>
          </a:xfrm>
          <a:custGeom>
            <a:avLst/>
            <a:gdLst/>
            <a:ahLst/>
            <a:cxnLst/>
            <a:rect r="r" b="b" t="t" l="l"/>
            <a:pathLst>
              <a:path h="4265352" w="3869837">
                <a:moveTo>
                  <a:pt x="0" y="0"/>
                </a:moveTo>
                <a:lnTo>
                  <a:pt x="3869837" y="0"/>
                </a:lnTo>
                <a:lnTo>
                  <a:pt x="3869837" y="4265352"/>
                </a:lnTo>
                <a:lnTo>
                  <a:pt x="0" y="426535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-10800000">
            <a:off x="9144000" y="-1365351"/>
            <a:ext cx="6660247" cy="2730701"/>
          </a:xfrm>
          <a:custGeom>
            <a:avLst/>
            <a:gdLst/>
            <a:ahLst/>
            <a:cxnLst/>
            <a:rect r="r" b="b" t="t" l="l"/>
            <a:pathLst>
              <a:path h="2730701" w="6660247">
                <a:moveTo>
                  <a:pt x="0" y="0"/>
                </a:moveTo>
                <a:lnTo>
                  <a:pt x="6660247" y="0"/>
                </a:lnTo>
                <a:lnTo>
                  <a:pt x="6660247" y="2730702"/>
                </a:lnTo>
                <a:lnTo>
                  <a:pt x="0" y="273070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-2611628">
            <a:off x="1608356" y="-1969747"/>
            <a:ext cx="4007991" cy="3041063"/>
          </a:xfrm>
          <a:custGeom>
            <a:avLst/>
            <a:gdLst/>
            <a:ahLst/>
            <a:cxnLst/>
            <a:rect r="r" b="b" t="t" l="l"/>
            <a:pathLst>
              <a:path h="3041063" w="4007991">
                <a:moveTo>
                  <a:pt x="0" y="0"/>
                </a:moveTo>
                <a:lnTo>
                  <a:pt x="4007991" y="0"/>
                </a:lnTo>
                <a:lnTo>
                  <a:pt x="4007991" y="3041063"/>
                </a:lnTo>
                <a:lnTo>
                  <a:pt x="0" y="304106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4494391">
            <a:off x="12369441" y="1807579"/>
            <a:ext cx="2770524" cy="1664799"/>
          </a:xfrm>
          <a:custGeom>
            <a:avLst/>
            <a:gdLst/>
            <a:ahLst/>
            <a:cxnLst/>
            <a:rect r="r" b="b" t="t" l="l"/>
            <a:pathLst>
              <a:path h="1664799" w="2770524">
                <a:moveTo>
                  <a:pt x="0" y="0"/>
                </a:moveTo>
                <a:lnTo>
                  <a:pt x="2770524" y="0"/>
                </a:lnTo>
                <a:lnTo>
                  <a:pt x="2770524" y="1664799"/>
                </a:lnTo>
                <a:lnTo>
                  <a:pt x="0" y="1664799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6224286">
            <a:off x="3146348" y="7222218"/>
            <a:ext cx="2770524" cy="1664799"/>
          </a:xfrm>
          <a:custGeom>
            <a:avLst/>
            <a:gdLst/>
            <a:ahLst/>
            <a:cxnLst/>
            <a:rect r="r" b="b" t="t" l="l"/>
            <a:pathLst>
              <a:path h="1664799" w="2770524">
                <a:moveTo>
                  <a:pt x="0" y="0"/>
                </a:moveTo>
                <a:lnTo>
                  <a:pt x="2770524" y="0"/>
                </a:lnTo>
                <a:lnTo>
                  <a:pt x="2770524" y="1664799"/>
                </a:lnTo>
                <a:lnTo>
                  <a:pt x="0" y="1664799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4270593" y="2757734"/>
            <a:ext cx="1198548" cy="1291578"/>
          </a:xfrm>
          <a:custGeom>
            <a:avLst/>
            <a:gdLst/>
            <a:ahLst/>
            <a:cxnLst/>
            <a:rect r="r" b="b" t="t" l="l"/>
            <a:pathLst>
              <a:path h="1291578" w="1198548">
                <a:moveTo>
                  <a:pt x="1198548" y="0"/>
                </a:moveTo>
                <a:lnTo>
                  <a:pt x="0" y="0"/>
                </a:lnTo>
                <a:lnTo>
                  <a:pt x="0" y="1291578"/>
                </a:lnTo>
                <a:lnTo>
                  <a:pt x="1198548" y="1291578"/>
                </a:lnTo>
                <a:lnTo>
                  <a:pt x="1198548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2722864" y="6511304"/>
            <a:ext cx="1140143" cy="1228640"/>
          </a:xfrm>
          <a:custGeom>
            <a:avLst/>
            <a:gdLst/>
            <a:ahLst/>
            <a:cxnLst/>
            <a:rect r="r" b="b" t="t" l="l"/>
            <a:pathLst>
              <a:path h="1228640" w="1140143">
                <a:moveTo>
                  <a:pt x="0" y="0"/>
                </a:moveTo>
                <a:lnTo>
                  <a:pt x="1140143" y="0"/>
                </a:lnTo>
                <a:lnTo>
                  <a:pt x="1140143" y="1228640"/>
                </a:lnTo>
                <a:lnTo>
                  <a:pt x="0" y="122864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DAGgRtqCjnU</dc:identifier>
  <dcterms:modified xsi:type="dcterms:W3CDTF">2011-08-01T06:04:30Z</dcterms:modified>
  <cp:revision>1</cp:revision>
  <dc:title>Hospital Supply Chain Project Presentation</dc:title>
</cp:coreProperties>
</file>